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Announcement: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Announcement: example-academic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post: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post: example-newspaper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or event: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Game or event: example-band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Result: example-soccer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Result: example-no-photo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Schedule: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Team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58600"/>
            <a:ext cx="3439463" cy="514350"/>
          </a:xfrm>
          <a:prstGeom prst="rect">
            <a:avLst/>
          </a:prstGeom>
        </p:spPr>
      </p:pic>
      <p:sp>
        <p:nvSpPr>
          <p:cNvPr id="4" name="Date panel"/>
          <p:cNvSpPr/>
          <p:nvPr/>
        </p:nvSpPr>
        <p:spPr>
          <a:xfrm>
            <a:off x="685800" y="685800"/>
            <a:ext cx="4379595" cy="1809750"/>
          </a:xfrm>
          <a:custGeom>
            <a:avLst/>
            <a:gdLst/>
            <a:ahLst/>
            <a:cxnLst/>
            <a:rect l="l" t="t" r="r" b="b"/>
            <a:pathLst>
              <a:path w="4379595" h="1809750">
                <a:moveTo>
                  <a:pt x="217170" y="0"/>
                </a:moveTo>
                <a:lnTo>
                  <a:pt x="4379595" y="0"/>
                </a:lnTo>
                <a:lnTo>
                  <a:pt x="4162425" y="1809750"/>
                </a:lnTo>
                <a:lnTo>
                  <a:pt x="0" y="1809750"/>
                </a:lnTo>
                <a:lnTo>
                  <a:pt x="217170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e"/>
          <p:cNvSpPr txBox="1"/>
          <p:nvPr/>
        </p:nvSpPr>
        <p:spPr>
          <a:xfrm>
            <a:off x="1102043" y="259036"/>
            <a:ext cx="3765194" cy="2752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255" b="0" cap="all">
                <a:solidFill>
                  <a:srgbClr val="5E1A1D"/>
                </a:solidFill>
                <a:latin typeface="Saira Condensed Black"/>
              </a:rPr>
              <a:t>10/20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685800" y="4668869"/>
            <a:ext cx="2171794" cy="5294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50" b="1" spc="357" cap="all">
                <a:solidFill>
                  <a:srgbClr val="F5EAD5"/>
                </a:solidFill>
                <a:latin typeface="Saira"/>
              </a:rPr>
              <a:t>OCT 20–24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685800" y="4476274"/>
            <a:ext cx="5626334" cy="55535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525"/>
              </a:lnSpc>
            </a:pPr>
            <a:r>
              <a:rPr sz="17250" b="0" spc="172" cap="all">
                <a:solidFill>
                  <a:srgbClr val="F5EAD5"/>
                </a:solidFill>
                <a:latin typeface="Saira Condensed Black"/>
              </a:rPr>
              <a:t>SPIRIT</a:t>
            </a:r>
          </a:p>
          <a:p>
            <a:pPr algn="l">
              <a:lnSpc>
                <a:spcPts val="15525"/>
              </a:lnSpc>
            </a:pPr>
            <a:r>
              <a:rPr sz="17250" b="0" spc="172" cap="all">
                <a:solidFill>
                  <a:srgbClr val="F5EAD5"/>
                </a:solidFill>
                <a:latin typeface="Saira Condensed Black"/>
              </a:rPr>
              <a:t>WEEK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685800" y="9264015"/>
            <a:ext cx="8657570" cy="16135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EBD9C6"/>
                </a:solidFill>
                <a:latin typeface="Saira"/>
              </a:rPr>
              <a:t>Mon: Pajama Day · Tue: Decades · Wed: Jersey</a:t>
            </a:r>
          </a:p>
          <a:p>
            <a:pPr algn="l">
              <a:lnSpc>
                <a:spcPts val="3900"/>
              </a:lnSpc>
            </a:pPr>
            <a:r>
              <a:rPr sz="3000" b="1">
                <a:solidFill>
                  <a:srgbClr val="EBD9C6"/>
                </a:solidFill>
                <a:latin typeface="Saira"/>
              </a:rPr>
              <a:t>Day</a:t>
            </a:r>
          </a:p>
          <a:p>
            <a:pPr algn="l">
              <a:lnSpc>
                <a:spcPts val="3900"/>
              </a:lnSpc>
            </a:pPr>
            <a:r>
              <a:rPr sz="3000" b="1">
                <a:solidFill>
                  <a:srgbClr val="EBD9C6"/>
                </a:solidFill>
                <a:latin typeface="Saira"/>
              </a:rPr>
              <a:t>Thu: Twin Day · Fri: Maroon &amp; Cream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Team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349990"/>
            <a:ext cx="3144265" cy="822960"/>
          </a:xfrm>
          <a:prstGeom prst="rect">
            <a:avLst/>
          </a:prstGeom>
        </p:spPr>
      </p:pic>
      <p:sp>
        <p:nvSpPr>
          <p:cNvPr id="4" name="Date panel"/>
          <p:cNvSpPr/>
          <p:nvPr/>
        </p:nvSpPr>
        <p:spPr>
          <a:xfrm>
            <a:off x="685800" y="685800"/>
            <a:ext cx="3356034" cy="1809750"/>
          </a:xfrm>
          <a:custGeom>
            <a:avLst/>
            <a:gdLst/>
            <a:ahLst/>
            <a:cxnLst/>
            <a:rect l="l" t="t" r="r" b="b"/>
            <a:pathLst>
              <a:path w="3356034" h="1809750">
                <a:moveTo>
                  <a:pt x="217170" y="0"/>
                </a:moveTo>
                <a:lnTo>
                  <a:pt x="3356034" y="0"/>
                </a:lnTo>
                <a:lnTo>
                  <a:pt x="3138864" y="1809750"/>
                </a:lnTo>
                <a:lnTo>
                  <a:pt x="0" y="1809750"/>
                </a:lnTo>
                <a:lnTo>
                  <a:pt x="21717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te"/>
          <p:cNvSpPr txBox="1"/>
          <p:nvPr/>
        </p:nvSpPr>
        <p:spPr>
          <a:xfrm>
            <a:off x="1102043" y="259036"/>
            <a:ext cx="2700691" cy="27525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255" b="0" cap="all">
                <a:solidFill>
                  <a:srgbClr val="F5EAD5"/>
                </a:solidFill>
                <a:latin typeface="Saira Condensed Black"/>
              </a:rPr>
              <a:t>11/8</a:t>
            </a:r>
          </a:p>
        </p:txBody>
      </p:sp>
      <p:sp>
        <p:nvSpPr>
          <p:cNvPr id="6" name="Kicker"/>
          <p:cNvSpPr txBox="1"/>
          <p:nvPr/>
        </p:nvSpPr>
        <p:spPr>
          <a:xfrm>
            <a:off x="685800" y="5606598"/>
            <a:ext cx="3346567" cy="5294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50" b="1" spc="357" cap="all">
                <a:solidFill>
                  <a:srgbClr val="5E1A1D"/>
                </a:solidFill>
                <a:latin typeface="Saira"/>
              </a:rPr>
              <a:t>ACADEMIC TEAM</a:t>
            </a:r>
          </a:p>
        </p:txBody>
      </p:sp>
      <p:sp>
        <p:nvSpPr>
          <p:cNvPr id="7" name="Headline"/>
          <p:cNvSpPr txBox="1"/>
          <p:nvPr/>
        </p:nvSpPr>
        <p:spPr>
          <a:xfrm>
            <a:off x="685800" y="5625410"/>
            <a:ext cx="9348216" cy="43546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73"/>
              </a:lnSpc>
            </a:pPr>
            <a:r>
              <a:rPr sz="13526" b="0" spc="135" cap="all">
                <a:solidFill>
                  <a:srgbClr val="5E1A1D"/>
                </a:solidFill>
                <a:latin typeface="Saira Condensed Black"/>
              </a:rPr>
              <a:t>REGION</a:t>
            </a:r>
          </a:p>
          <a:p>
            <a:pPr algn="l">
              <a:lnSpc>
                <a:spcPts val="12173"/>
              </a:lnSpc>
            </a:pPr>
            <a:r>
              <a:rPr sz="13526" b="0" spc="135" cap="all">
                <a:solidFill>
                  <a:srgbClr val="5E1A1D"/>
                </a:solidFill>
                <a:latin typeface="Saira Condensed Black"/>
              </a:rPr>
              <a:t>TOURNAMENT</a:t>
            </a:r>
          </a:p>
        </p:txBody>
      </p:sp>
      <p:sp>
        <p:nvSpPr>
          <p:cNvPr id="8" name="Details"/>
          <p:cNvSpPr txBox="1"/>
          <p:nvPr/>
        </p:nvSpPr>
        <p:spPr>
          <a:xfrm>
            <a:off x="685800" y="9450705"/>
            <a:ext cx="8342163" cy="1118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3000" b="1">
                <a:solidFill>
                  <a:srgbClr val="1C1517"/>
                </a:solidFill>
                <a:latin typeface="Saira"/>
              </a:rPr>
              <a:t>Saturday, Nov 8 · Matches start at 9:00 AM</a:t>
            </a:r>
          </a:p>
          <a:p>
            <a:pPr algn="l">
              <a:lnSpc>
                <a:spcPts val="3900"/>
              </a:lnSpc>
            </a:pPr>
            <a:r>
              <a:rPr sz="3000" b="1">
                <a:solidFill>
                  <a:srgbClr val="1C1517"/>
                </a:solidFill>
                <a:latin typeface="Saira"/>
              </a:rPr>
              <a:t>Come cheer on the team in the media center.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32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08849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-381000" y="7618095"/>
            <a:ext cx="10622509" cy="5335905"/>
          </a:xfrm>
          <a:custGeom>
            <a:avLst/>
            <a:gdLst/>
            <a:ahLst/>
            <a:cxnLst/>
            <a:rect l="l" t="t" r="r" b="b"/>
            <a:pathLst>
              <a:path w="10622509" h="5335905">
                <a:moveTo>
                  <a:pt x="0" y="0"/>
                </a:moveTo>
                <a:lnTo>
                  <a:pt x="10622509" y="0"/>
                </a:lnTo>
                <a:lnTo>
                  <a:pt x="9982200" y="5335905"/>
                </a:lnTo>
                <a:lnTo>
                  <a:pt x="0" y="5335905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58600"/>
            <a:ext cx="3400010" cy="51435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85800" y="7512844"/>
            <a:ext cx="8016850" cy="3621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125"/>
              </a:lnSpc>
            </a:pPr>
            <a:r>
              <a:rPr sz="11250" b="0" spc="112" cap="all">
                <a:solidFill>
                  <a:srgbClr val="F5EAD5"/>
                </a:solidFill>
                <a:latin typeface="Saira Condensed Black"/>
              </a:rPr>
              <a:t>GAME PHOTOS</a:t>
            </a:r>
          </a:p>
          <a:p>
            <a:pPr algn="l">
              <a:lnSpc>
                <a:spcPts val="10125"/>
              </a:lnSpc>
            </a:pPr>
            <a:r>
              <a:rPr sz="11250" b="0" spc="112" cap="all">
                <a:solidFill>
                  <a:srgbClr val="F5EAD5"/>
                </a:solidFill>
                <a:latin typeface="Saira Condensed Black"/>
              </a:rPr>
              <a:t>ARE UP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685800" y="10600087"/>
            <a:ext cx="7471504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50" b="1">
                <a:solidFill>
                  <a:srgbClr val="EBD9C6"/>
                </a:solidFill>
                <a:latin typeface="Saira"/>
              </a:rPr>
              <a:t>See the full gallery on the school website.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32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7124700"/>
          </a:xfrm>
          <a:prstGeom prst="rect">
            <a:avLst/>
          </a:prstGeom>
        </p:spPr>
      </p:pic>
      <p:sp>
        <p:nvSpPr>
          <p:cNvPr id="4" name="Panel"/>
          <p:cNvSpPr/>
          <p:nvPr/>
        </p:nvSpPr>
        <p:spPr>
          <a:xfrm>
            <a:off x="-381000" y="6743700"/>
            <a:ext cx="10727436" cy="6210300"/>
          </a:xfrm>
          <a:custGeom>
            <a:avLst/>
            <a:gdLst/>
            <a:ahLst/>
            <a:cxnLst/>
            <a:rect l="l" t="t" r="r" b="b"/>
            <a:pathLst>
              <a:path w="10727436" h="6210300">
                <a:moveTo>
                  <a:pt x="0" y="0"/>
                </a:moveTo>
                <a:lnTo>
                  <a:pt x="10727436" y="0"/>
                </a:lnTo>
                <a:lnTo>
                  <a:pt x="9982200" y="6210300"/>
                </a:lnTo>
                <a:lnTo>
                  <a:pt x="0" y="6210300"/>
                </a:lnTo>
                <a:lnTo>
                  <a:pt x="0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58600"/>
            <a:ext cx="3439463" cy="514350"/>
          </a:xfrm>
          <a:prstGeom prst="rect">
            <a:avLst/>
          </a:prstGeom>
        </p:spPr>
      </p:pic>
      <p:sp>
        <p:nvSpPr>
          <p:cNvPr id="6" name="Headline"/>
          <p:cNvSpPr txBox="1"/>
          <p:nvPr/>
        </p:nvSpPr>
        <p:spPr>
          <a:xfrm>
            <a:off x="685800" y="6712376"/>
            <a:ext cx="8623111" cy="43396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952"/>
              </a:lnSpc>
            </a:pPr>
            <a:r>
              <a:rPr sz="9947" b="0" spc="99" cap="all">
                <a:solidFill>
                  <a:srgbClr val="5E1A1D"/>
                </a:solidFill>
                <a:latin typeface="Saira Condensed Black"/>
              </a:rPr>
              <a:t>MEET THE</a:t>
            </a:r>
          </a:p>
          <a:p>
            <a:pPr algn="l">
              <a:lnSpc>
                <a:spcPts val="8952"/>
              </a:lnSpc>
            </a:pPr>
            <a:r>
              <a:rPr sz="9947" b="0" spc="99" cap="all">
                <a:solidFill>
                  <a:srgbClr val="5E1A1D"/>
                </a:solidFill>
                <a:latin typeface="Saira Condensed Black"/>
              </a:rPr>
              <a:t>WEEKLY WILDCAT</a:t>
            </a:r>
          </a:p>
          <a:p>
            <a:pPr algn="l">
              <a:lnSpc>
                <a:spcPts val="8952"/>
              </a:lnSpc>
            </a:pPr>
            <a:r>
              <a:rPr sz="9947" b="0" spc="99" cap="all">
                <a:solidFill>
                  <a:srgbClr val="5E1A1D"/>
                </a:solidFill>
                <a:latin typeface="Saira Condensed Black"/>
              </a:rPr>
              <a:t>STAFF</a:t>
            </a:r>
          </a:p>
        </p:txBody>
      </p:sp>
      <p:sp>
        <p:nvSpPr>
          <p:cNvPr id="7" name="Details"/>
          <p:cNvSpPr txBox="1"/>
          <p:nvPr/>
        </p:nvSpPr>
        <p:spPr>
          <a:xfrm>
            <a:off x="685800" y="10600087"/>
            <a:ext cx="4626462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50" b="1">
                <a:solidFill>
                  <a:srgbClr val="1C1517"/>
                </a:solidFill>
                <a:latin typeface="Saira"/>
              </a:rPr>
              <a:t>A new issue every Friday.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038850"/>
          </a:xfrm>
          <a:prstGeom prst="rect">
            <a:avLst/>
          </a:prstGeom>
        </p:spPr>
      </p:pic>
      <p:pic>
        <p:nvPicPr>
          <p:cNvPr id="4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58600"/>
            <a:ext cx="3400010" cy="514350"/>
          </a:xfrm>
          <a:prstGeom prst="rect">
            <a:avLst/>
          </a:prstGeom>
        </p:spPr>
      </p:pic>
      <p:sp>
        <p:nvSpPr>
          <p:cNvPr id="5" name="Date panel"/>
          <p:cNvSpPr/>
          <p:nvPr/>
        </p:nvSpPr>
        <p:spPr>
          <a:xfrm>
            <a:off x="685800" y="4878705"/>
            <a:ext cx="4835023" cy="2000250"/>
          </a:xfrm>
          <a:custGeom>
            <a:avLst/>
            <a:gdLst/>
            <a:ahLst/>
            <a:cxnLst/>
            <a:rect l="l" t="t" r="r" b="b"/>
            <a:pathLst>
              <a:path w="4835023" h="2000250">
                <a:moveTo>
                  <a:pt x="240030" y="0"/>
                </a:moveTo>
                <a:lnTo>
                  <a:pt x="4835023" y="0"/>
                </a:lnTo>
                <a:lnTo>
                  <a:pt x="4594993" y="2000250"/>
                </a:lnTo>
                <a:lnTo>
                  <a:pt x="0" y="2000250"/>
                </a:lnTo>
                <a:lnTo>
                  <a:pt x="240030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e"/>
          <p:cNvSpPr txBox="1"/>
          <p:nvPr/>
        </p:nvSpPr>
        <p:spPr>
          <a:xfrm>
            <a:off x="1145858" y="4407018"/>
            <a:ext cx="4147704" cy="30422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651" b="0" cap="all">
                <a:solidFill>
                  <a:srgbClr val="5E1A1D"/>
                </a:solidFill>
                <a:latin typeface="Saira Condensed Black"/>
              </a:rPr>
              <a:t>10/24</a:t>
            </a:r>
          </a:p>
        </p:txBody>
      </p:sp>
      <p:sp>
        <p:nvSpPr>
          <p:cNvPr id="7" name="Day and time"/>
          <p:cNvSpPr txBox="1"/>
          <p:nvPr/>
        </p:nvSpPr>
        <p:spPr>
          <a:xfrm>
            <a:off x="5806573" y="6187059"/>
            <a:ext cx="3838895" cy="996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800" b="0" spc="48" cap="all">
                <a:solidFill>
                  <a:srgbClr val="F5EAD5"/>
                </a:solidFill>
                <a:latin typeface="Saira Condensed Black"/>
              </a:rPr>
              <a:t>FRIDAY 7:30 PM</a:t>
            </a:r>
          </a:p>
        </p:txBody>
      </p:sp>
      <p:sp>
        <p:nvSpPr>
          <p:cNvPr id="8" name="Tag panel"/>
          <p:cNvSpPr/>
          <p:nvPr/>
        </p:nvSpPr>
        <p:spPr>
          <a:xfrm>
            <a:off x="685800" y="7545705"/>
            <a:ext cx="1891178" cy="514350"/>
          </a:xfrm>
          <a:custGeom>
            <a:avLst/>
            <a:gdLst/>
            <a:ahLst/>
            <a:cxnLst/>
            <a:rect l="l" t="t" r="r" b="b"/>
            <a:pathLst>
              <a:path w="1891178" h="514350">
                <a:moveTo>
                  <a:pt x="61722" y="0"/>
                </a:moveTo>
                <a:lnTo>
                  <a:pt x="1891178" y="0"/>
                </a:lnTo>
                <a:lnTo>
                  <a:pt x="1829456" y="514350"/>
                </a:lnTo>
                <a:lnTo>
                  <a:pt x="0" y="514350"/>
                </a:lnTo>
                <a:lnTo>
                  <a:pt x="61722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"/>
          <p:cNvSpPr txBox="1"/>
          <p:nvPr/>
        </p:nvSpPr>
        <p:spPr>
          <a:xfrm>
            <a:off x="896684" y="7507204"/>
            <a:ext cx="1604388" cy="611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43" b="0" spc="58" cap="all">
                <a:solidFill>
                  <a:srgbClr val="5E1A1D"/>
                </a:solidFill>
                <a:latin typeface="Saira Condensed Black"/>
              </a:rPr>
              <a:t>GAME DAY</a:t>
            </a:r>
          </a:p>
        </p:txBody>
      </p:sp>
      <p:sp>
        <p:nvSpPr>
          <p:cNvPr id="10" name="Headline"/>
          <p:cNvSpPr txBox="1"/>
          <p:nvPr/>
        </p:nvSpPr>
        <p:spPr>
          <a:xfrm>
            <a:off x="685800" y="7717250"/>
            <a:ext cx="9183380" cy="26474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750" b="0" spc="127" cap="all">
                <a:solidFill>
                  <a:srgbClr val="F5EAD5"/>
                </a:solidFill>
                <a:latin typeface="Saira Condensed Black"/>
              </a:rPr>
              <a:t>VS. ABBEVILLE</a:t>
            </a:r>
          </a:p>
        </p:txBody>
      </p:sp>
      <p:sp>
        <p:nvSpPr>
          <p:cNvPr id="11" name="Details"/>
          <p:cNvSpPr txBox="1"/>
          <p:nvPr/>
        </p:nvSpPr>
        <p:spPr>
          <a:xfrm>
            <a:off x="685800" y="9846564"/>
            <a:ext cx="4805721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BD9C6"/>
                </a:solidFill>
                <a:latin typeface="Saira"/>
              </a:rPr>
              <a:t>Wilson Campbell Stadium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038850"/>
          </a:xfrm>
          <a:prstGeom prst="rect">
            <a:avLst/>
          </a:prstGeom>
        </p:spPr>
      </p:pic>
      <p:pic>
        <p:nvPicPr>
          <p:cNvPr id="4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349990"/>
            <a:ext cx="3225631" cy="822960"/>
          </a:xfrm>
          <a:prstGeom prst="rect">
            <a:avLst/>
          </a:prstGeom>
        </p:spPr>
      </p:pic>
      <p:sp>
        <p:nvSpPr>
          <p:cNvPr id="5" name="Date panel"/>
          <p:cNvSpPr/>
          <p:nvPr/>
        </p:nvSpPr>
        <p:spPr>
          <a:xfrm>
            <a:off x="685800" y="4878705"/>
            <a:ext cx="4810834" cy="2000250"/>
          </a:xfrm>
          <a:custGeom>
            <a:avLst/>
            <a:gdLst/>
            <a:ahLst/>
            <a:cxnLst/>
            <a:rect l="l" t="t" r="r" b="b"/>
            <a:pathLst>
              <a:path w="4810834" h="2000250">
                <a:moveTo>
                  <a:pt x="240030" y="0"/>
                </a:moveTo>
                <a:lnTo>
                  <a:pt x="4810834" y="0"/>
                </a:lnTo>
                <a:lnTo>
                  <a:pt x="4570804" y="2000250"/>
                </a:lnTo>
                <a:lnTo>
                  <a:pt x="0" y="2000250"/>
                </a:lnTo>
                <a:lnTo>
                  <a:pt x="240030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e"/>
          <p:cNvSpPr txBox="1"/>
          <p:nvPr/>
        </p:nvSpPr>
        <p:spPr>
          <a:xfrm>
            <a:off x="1145858" y="4407018"/>
            <a:ext cx="4122548" cy="30422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651" b="0" cap="all">
                <a:solidFill>
                  <a:srgbClr val="5E1A1D"/>
                </a:solidFill>
                <a:latin typeface="Saira Condensed Black"/>
              </a:rPr>
              <a:t>10/25</a:t>
            </a:r>
          </a:p>
        </p:txBody>
      </p:sp>
      <p:sp>
        <p:nvSpPr>
          <p:cNvPr id="7" name="Day and time"/>
          <p:cNvSpPr txBox="1"/>
          <p:nvPr/>
        </p:nvSpPr>
        <p:spPr>
          <a:xfrm>
            <a:off x="5782384" y="6187059"/>
            <a:ext cx="2543032" cy="996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800" b="0" spc="48" cap="all">
                <a:solidFill>
                  <a:srgbClr val="F5EAD5"/>
                </a:solidFill>
                <a:latin typeface="Saira Condensed Black"/>
              </a:rPr>
              <a:t>SATURDAY</a:t>
            </a:r>
          </a:p>
        </p:txBody>
      </p:sp>
      <p:sp>
        <p:nvSpPr>
          <p:cNvPr id="8" name="Tag panel"/>
          <p:cNvSpPr/>
          <p:nvPr/>
        </p:nvSpPr>
        <p:spPr>
          <a:xfrm>
            <a:off x="685800" y="7545705"/>
            <a:ext cx="2352449" cy="514350"/>
          </a:xfrm>
          <a:custGeom>
            <a:avLst/>
            <a:gdLst/>
            <a:ahLst/>
            <a:cxnLst/>
            <a:rect l="l" t="t" r="r" b="b"/>
            <a:pathLst>
              <a:path w="2352449" h="514350">
                <a:moveTo>
                  <a:pt x="61722" y="0"/>
                </a:moveTo>
                <a:lnTo>
                  <a:pt x="2352449" y="0"/>
                </a:lnTo>
                <a:lnTo>
                  <a:pt x="2290726" y="514350"/>
                </a:lnTo>
                <a:lnTo>
                  <a:pt x="0" y="514350"/>
                </a:lnTo>
                <a:lnTo>
                  <a:pt x="61722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ag"/>
          <p:cNvSpPr txBox="1"/>
          <p:nvPr/>
        </p:nvSpPr>
        <p:spPr>
          <a:xfrm>
            <a:off x="896684" y="7507204"/>
            <a:ext cx="2084109" cy="611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43" b="0" spc="58" cap="all">
                <a:solidFill>
                  <a:srgbClr val="5E1A1D"/>
                </a:solidFill>
                <a:latin typeface="Saira Condensed Black"/>
              </a:rPr>
              <a:t>COMPETITION</a:t>
            </a:r>
          </a:p>
        </p:txBody>
      </p:sp>
      <p:sp>
        <p:nvSpPr>
          <p:cNvPr id="10" name="Headline"/>
          <p:cNvSpPr txBox="1"/>
          <p:nvPr/>
        </p:nvSpPr>
        <p:spPr>
          <a:xfrm>
            <a:off x="685800" y="8029766"/>
            <a:ext cx="6030123" cy="23324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520"/>
              </a:lnSpc>
            </a:pPr>
            <a:r>
              <a:rPr sz="7244" b="0" spc="72" cap="all">
                <a:solidFill>
                  <a:srgbClr val="F5EAD5"/>
                </a:solidFill>
                <a:latin typeface="Saira Condensed Black"/>
              </a:rPr>
              <a:t>UPPER STATE</a:t>
            </a:r>
          </a:p>
          <a:p>
            <a:pPr algn="l">
              <a:lnSpc>
                <a:spcPts val="6520"/>
              </a:lnSpc>
            </a:pPr>
            <a:r>
              <a:rPr sz="7244" b="0" spc="72" cap="all">
                <a:solidFill>
                  <a:srgbClr val="F5EAD5"/>
                </a:solidFill>
                <a:latin typeface="Saira Condensed Black"/>
              </a:rPr>
              <a:t>CHAMPIONSHIPS</a:t>
            </a:r>
          </a:p>
        </p:txBody>
      </p:sp>
      <p:sp>
        <p:nvSpPr>
          <p:cNvPr id="11" name="Details"/>
          <p:cNvSpPr txBox="1"/>
          <p:nvPr/>
        </p:nvSpPr>
        <p:spPr>
          <a:xfrm>
            <a:off x="685800" y="10193655"/>
            <a:ext cx="6421984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BD9C6"/>
                </a:solidFill>
                <a:latin typeface="Saira"/>
              </a:rPr>
              <a:t>Finals performance after 8:00 PM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5143500"/>
          </a:xfrm>
          <a:prstGeom prst="rect">
            <a:avLst/>
          </a:prstGeom>
        </p:spPr>
      </p:pic>
      <p:pic>
        <p:nvPicPr>
          <p:cNvPr id="4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58600"/>
            <a:ext cx="3400010" cy="514350"/>
          </a:xfrm>
          <a:prstGeom prst="rect">
            <a:avLst/>
          </a:prstGeom>
        </p:spPr>
      </p:pic>
      <p:sp>
        <p:nvSpPr>
          <p:cNvPr id="5" name="Tag panel"/>
          <p:cNvSpPr/>
          <p:nvPr/>
        </p:nvSpPr>
        <p:spPr>
          <a:xfrm>
            <a:off x="685800" y="5676900"/>
            <a:ext cx="2022710" cy="495300"/>
          </a:xfrm>
          <a:custGeom>
            <a:avLst/>
            <a:gdLst/>
            <a:ahLst/>
            <a:cxnLst/>
            <a:rect l="l" t="t" r="r" b="b"/>
            <a:pathLst>
              <a:path w="2022710" h="495300">
                <a:moveTo>
                  <a:pt x="59436" y="0"/>
                </a:moveTo>
                <a:lnTo>
                  <a:pt x="2022710" y="0"/>
                </a:lnTo>
                <a:lnTo>
                  <a:pt x="1963274" y="495300"/>
                </a:lnTo>
                <a:lnTo>
                  <a:pt x="0" y="495300"/>
                </a:lnTo>
                <a:lnTo>
                  <a:pt x="59436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"/>
          <p:cNvSpPr txBox="1"/>
          <p:nvPr/>
        </p:nvSpPr>
        <p:spPr>
          <a:xfrm>
            <a:off x="888873" y="5639824"/>
            <a:ext cx="1757427" cy="5885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34" b="0" spc="56" cap="all">
                <a:solidFill>
                  <a:srgbClr val="5E1A1D"/>
                </a:solidFill>
                <a:latin typeface="Saira Condensed Black"/>
              </a:rPr>
              <a:t>FINAL · WIN</a:t>
            </a:r>
          </a:p>
        </p:txBody>
      </p:sp>
      <p:sp>
        <p:nvSpPr>
          <p:cNvPr id="7" name="Wildcats score panel"/>
          <p:cNvSpPr/>
          <p:nvPr/>
        </p:nvSpPr>
        <p:spPr>
          <a:xfrm>
            <a:off x="685800" y="6648450"/>
            <a:ext cx="3110209" cy="2305050"/>
          </a:xfrm>
          <a:custGeom>
            <a:avLst/>
            <a:gdLst/>
            <a:ahLst/>
            <a:cxnLst/>
            <a:rect l="l" t="t" r="r" b="b"/>
            <a:pathLst>
              <a:path w="3110209" h="2305050">
                <a:moveTo>
                  <a:pt x="276606" y="0"/>
                </a:moveTo>
                <a:lnTo>
                  <a:pt x="3110209" y="0"/>
                </a:lnTo>
                <a:lnTo>
                  <a:pt x="2833603" y="2305050"/>
                </a:lnTo>
                <a:lnTo>
                  <a:pt x="0" y="2305050"/>
                </a:lnTo>
                <a:lnTo>
                  <a:pt x="276606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ldcats score"/>
          <p:cNvSpPr txBox="1"/>
          <p:nvPr/>
        </p:nvSpPr>
        <p:spPr>
          <a:xfrm>
            <a:off x="1215962" y="6104887"/>
            <a:ext cx="2208082" cy="35058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883" b="0" cap="all">
                <a:solidFill>
                  <a:srgbClr val="5E1A1D"/>
                </a:solidFill>
                <a:latin typeface="Saira Condensed Black"/>
              </a:rPr>
              <a:t>28</a:t>
            </a:r>
          </a:p>
        </p:txBody>
      </p:sp>
      <p:sp>
        <p:nvSpPr>
          <p:cNvPr id="9" name="Opponent score panel"/>
          <p:cNvSpPr/>
          <p:nvPr/>
        </p:nvSpPr>
        <p:spPr>
          <a:xfrm>
            <a:off x="4177009" y="6648450"/>
            <a:ext cx="2788575" cy="2305050"/>
          </a:xfrm>
          <a:custGeom>
            <a:avLst/>
            <a:gdLst/>
            <a:ahLst/>
            <a:cxnLst/>
            <a:rect l="l" t="t" r="r" b="b"/>
            <a:pathLst>
              <a:path w="2788575" h="2305050">
                <a:moveTo>
                  <a:pt x="276606" y="0"/>
                </a:moveTo>
                <a:lnTo>
                  <a:pt x="2788575" y="0"/>
                </a:lnTo>
                <a:lnTo>
                  <a:pt x="2511969" y="2305050"/>
                </a:lnTo>
                <a:lnTo>
                  <a:pt x="0" y="2305050"/>
                </a:lnTo>
                <a:lnTo>
                  <a:pt x="27660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pponent score"/>
          <p:cNvSpPr txBox="1"/>
          <p:nvPr/>
        </p:nvSpPr>
        <p:spPr>
          <a:xfrm>
            <a:off x="4707171" y="6104887"/>
            <a:ext cx="1873581" cy="35058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883" b="0" cap="all">
                <a:solidFill>
                  <a:srgbClr val="F5EAD5"/>
                </a:solidFill>
                <a:latin typeface="Saira Condensed Black"/>
              </a:rPr>
              <a:t>14</a:t>
            </a:r>
          </a:p>
        </p:txBody>
      </p:sp>
      <p:sp>
        <p:nvSpPr>
          <p:cNvPr id="11" name="Wildcats label"/>
          <p:cNvSpPr txBox="1"/>
          <p:nvPr/>
        </p:nvSpPr>
        <p:spPr>
          <a:xfrm>
            <a:off x="685800" y="9187815"/>
            <a:ext cx="2032437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WILDCATS</a:t>
            </a:r>
          </a:p>
        </p:txBody>
      </p:sp>
      <p:sp>
        <p:nvSpPr>
          <p:cNvPr id="12" name="Opponent label"/>
          <p:cNvSpPr txBox="1"/>
          <p:nvPr/>
        </p:nvSpPr>
        <p:spPr>
          <a:xfrm>
            <a:off x="4177009" y="9187815"/>
            <a:ext cx="1812524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BD9C6"/>
                </a:solidFill>
                <a:latin typeface="Saira"/>
              </a:rPr>
              <a:t>Abbeville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685800" y="10012109"/>
            <a:ext cx="4013241" cy="5606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EBD9C6"/>
                </a:solidFill>
                <a:latin typeface="Saira"/>
              </a:rPr>
              <a:t>Region 1-2A · 6–1 overall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hoto (right-click, Change Picture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5143500"/>
          </a:xfrm>
          <a:prstGeom prst="rect">
            <a:avLst/>
          </a:prstGeom>
        </p:spPr>
      </p:pic>
      <p:pic>
        <p:nvPicPr>
          <p:cNvPr id="4" name="Team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658600"/>
            <a:ext cx="2720030" cy="514350"/>
          </a:xfrm>
          <a:prstGeom prst="rect">
            <a:avLst/>
          </a:prstGeom>
        </p:spPr>
      </p:pic>
      <p:sp>
        <p:nvSpPr>
          <p:cNvPr id="5" name="Tag panel"/>
          <p:cNvSpPr/>
          <p:nvPr/>
        </p:nvSpPr>
        <p:spPr>
          <a:xfrm>
            <a:off x="685800" y="5676900"/>
            <a:ext cx="2022710" cy="495300"/>
          </a:xfrm>
          <a:custGeom>
            <a:avLst/>
            <a:gdLst/>
            <a:ahLst/>
            <a:cxnLst/>
            <a:rect l="l" t="t" r="r" b="b"/>
            <a:pathLst>
              <a:path w="2022710" h="495300">
                <a:moveTo>
                  <a:pt x="59436" y="0"/>
                </a:moveTo>
                <a:lnTo>
                  <a:pt x="2022710" y="0"/>
                </a:lnTo>
                <a:lnTo>
                  <a:pt x="1963274" y="495300"/>
                </a:lnTo>
                <a:lnTo>
                  <a:pt x="0" y="495300"/>
                </a:lnTo>
                <a:lnTo>
                  <a:pt x="59436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"/>
          <p:cNvSpPr txBox="1"/>
          <p:nvPr/>
        </p:nvSpPr>
        <p:spPr>
          <a:xfrm>
            <a:off x="888873" y="5639824"/>
            <a:ext cx="1757427" cy="5885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34" b="0" spc="56" cap="all">
                <a:solidFill>
                  <a:srgbClr val="5E1A1D"/>
                </a:solidFill>
                <a:latin typeface="Saira Condensed Black"/>
              </a:rPr>
              <a:t>FINAL · WIN</a:t>
            </a:r>
          </a:p>
        </p:txBody>
      </p:sp>
      <p:sp>
        <p:nvSpPr>
          <p:cNvPr id="7" name="Wildcats score panel"/>
          <p:cNvSpPr/>
          <p:nvPr/>
        </p:nvSpPr>
        <p:spPr>
          <a:xfrm>
            <a:off x="685800" y="6648450"/>
            <a:ext cx="2025228" cy="2305050"/>
          </a:xfrm>
          <a:custGeom>
            <a:avLst/>
            <a:gdLst/>
            <a:ahLst/>
            <a:cxnLst/>
            <a:rect l="l" t="t" r="r" b="b"/>
            <a:pathLst>
              <a:path w="2025228" h="2305050">
                <a:moveTo>
                  <a:pt x="276606" y="0"/>
                </a:moveTo>
                <a:lnTo>
                  <a:pt x="2025228" y="0"/>
                </a:lnTo>
                <a:lnTo>
                  <a:pt x="1748622" y="2305050"/>
                </a:lnTo>
                <a:lnTo>
                  <a:pt x="0" y="2305050"/>
                </a:lnTo>
                <a:lnTo>
                  <a:pt x="276606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ldcats score"/>
          <p:cNvSpPr txBox="1"/>
          <p:nvPr/>
        </p:nvSpPr>
        <p:spPr>
          <a:xfrm>
            <a:off x="1215962" y="6104887"/>
            <a:ext cx="1079701" cy="35058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883" b="0" cap="all">
                <a:solidFill>
                  <a:srgbClr val="5E1A1D"/>
                </a:solidFill>
                <a:latin typeface="Saira Condensed Black"/>
              </a:rPr>
              <a:t>3</a:t>
            </a:r>
          </a:p>
        </p:txBody>
      </p:sp>
      <p:sp>
        <p:nvSpPr>
          <p:cNvPr id="9" name="Opponent score panel"/>
          <p:cNvSpPr/>
          <p:nvPr/>
        </p:nvSpPr>
        <p:spPr>
          <a:xfrm>
            <a:off x="3092028" y="6648450"/>
            <a:ext cx="1759342" cy="2305050"/>
          </a:xfrm>
          <a:custGeom>
            <a:avLst/>
            <a:gdLst/>
            <a:ahLst/>
            <a:cxnLst/>
            <a:rect l="l" t="t" r="r" b="b"/>
            <a:pathLst>
              <a:path w="1759342" h="2305050">
                <a:moveTo>
                  <a:pt x="276606" y="0"/>
                </a:moveTo>
                <a:lnTo>
                  <a:pt x="1759342" y="0"/>
                </a:lnTo>
                <a:lnTo>
                  <a:pt x="1482736" y="2305050"/>
                </a:lnTo>
                <a:lnTo>
                  <a:pt x="0" y="2305050"/>
                </a:lnTo>
                <a:lnTo>
                  <a:pt x="27660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pponent score"/>
          <p:cNvSpPr txBox="1"/>
          <p:nvPr/>
        </p:nvSpPr>
        <p:spPr>
          <a:xfrm>
            <a:off x="3622189" y="6104887"/>
            <a:ext cx="803181" cy="35058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883" b="0" cap="all">
                <a:solidFill>
                  <a:srgbClr val="F5EAD5"/>
                </a:solidFill>
                <a:latin typeface="Saira Condensed Black"/>
              </a:rPr>
              <a:t>1</a:t>
            </a:r>
          </a:p>
        </p:txBody>
      </p:sp>
      <p:sp>
        <p:nvSpPr>
          <p:cNvPr id="11" name="Wildcats label"/>
          <p:cNvSpPr txBox="1"/>
          <p:nvPr/>
        </p:nvSpPr>
        <p:spPr>
          <a:xfrm>
            <a:off x="685800" y="9187815"/>
            <a:ext cx="2032437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WILDCATS</a:t>
            </a:r>
          </a:p>
        </p:txBody>
      </p:sp>
      <p:sp>
        <p:nvSpPr>
          <p:cNvPr id="12" name="Opponent label"/>
          <p:cNvSpPr txBox="1"/>
          <p:nvPr/>
        </p:nvSpPr>
        <p:spPr>
          <a:xfrm>
            <a:off x="3092028" y="9187815"/>
            <a:ext cx="1348130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BD9C6"/>
                </a:solidFill>
                <a:latin typeface="Saira"/>
              </a:rPr>
              <a:t>Saluda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685800" y="10012109"/>
            <a:ext cx="2047217" cy="5606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EBD9C6"/>
                </a:solidFill>
                <a:latin typeface="Saira"/>
              </a:rPr>
              <a:t>Region 1-2A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Team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58600"/>
            <a:ext cx="4143772" cy="514350"/>
          </a:xfrm>
          <a:prstGeom prst="rect">
            <a:avLst/>
          </a:prstGeom>
        </p:spPr>
      </p:pic>
      <p:sp>
        <p:nvSpPr>
          <p:cNvPr id="4" name="Tag panel"/>
          <p:cNvSpPr/>
          <p:nvPr/>
        </p:nvSpPr>
        <p:spPr>
          <a:xfrm>
            <a:off x="685800" y="2987064"/>
            <a:ext cx="2022710" cy="495300"/>
          </a:xfrm>
          <a:custGeom>
            <a:avLst/>
            <a:gdLst/>
            <a:ahLst/>
            <a:cxnLst/>
            <a:rect l="l" t="t" r="r" b="b"/>
            <a:pathLst>
              <a:path w="2022710" h="495300">
                <a:moveTo>
                  <a:pt x="59436" y="0"/>
                </a:moveTo>
                <a:lnTo>
                  <a:pt x="2022710" y="0"/>
                </a:lnTo>
                <a:lnTo>
                  <a:pt x="1963274" y="495300"/>
                </a:lnTo>
                <a:lnTo>
                  <a:pt x="0" y="495300"/>
                </a:lnTo>
                <a:lnTo>
                  <a:pt x="59436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g"/>
          <p:cNvSpPr txBox="1"/>
          <p:nvPr/>
        </p:nvSpPr>
        <p:spPr>
          <a:xfrm>
            <a:off x="888873" y="2949988"/>
            <a:ext cx="1757427" cy="5885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34" b="0" spc="56" cap="all">
                <a:solidFill>
                  <a:srgbClr val="5E1A1D"/>
                </a:solidFill>
                <a:latin typeface="Saira Condensed Black"/>
              </a:rPr>
              <a:t>FINAL · WIN</a:t>
            </a:r>
          </a:p>
        </p:txBody>
      </p:sp>
      <p:sp>
        <p:nvSpPr>
          <p:cNvPr id="6" name="Wildcats score panel"/>
          <p:cNvSpPr/>
          <p:nvPr/>
        </p:nvSpPr>
        <p:spPr>
          <a:xfrm>
            <a:off x="685800" y="3958614"/>
            <a:ext cx="4030412" cy="2693622"/>
          </a:xfrm>
          <a:custGeom>
            <a:avLst/>
            <a:gdLst/>
            <a:ahLst/>
            <a:cxnLst/>
            <a:rect l="l" t="t" r="r" b="b"/>
            <a:pathLst>
              <a:path w="4030412" h="2693622">
                <a:moveTo>
                  <a:pt x="323235" y="0"/>
                </a:moveTo>
                <a:lnTo>
                  <a:pt x="4030412" y="0"/>
                </a:lnTo>
                <a:lnTo>
                  <a:pt x="3707177" y="2693622"/>
                </a:lnTo>
                <a:lnTo>
                  <a:pt x="0" y="2693622"/>
                </a:lnTo>
                <a:lnTo>
                  <a:pt x="32323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ldcats score"/>
          <p:cNvSpPr txBox="1"/>
          <p:nvPr/>
        </p:nvSpPr>
        <p:spPr>
          <a:xfrm>
            <a:off x="1305333" y="3323420"/>
            <a:ext cx="2979199" cy="40968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729" b="0" cap="all">
                <a:solidFill>
                  <a:srgbClr val="5E1A1D"/>
                </a:solidFill>
                <a:latin typeface="Saira Condensed Black"/>
              </a:rPr>
              <a:t>112</a:t>
            </a:r>
          </a:p>
        </p:txBody>
      </p:sp>
      <p:sp>
        <p:nvSpPr>
          <p:cNvPr id="8" name="Opponent score panel"/>
          <p:cNvSpPr/>
          <p:nvPr/>
        </p:nvSpPr>
        <p:spPr>
          <a:xfrm>
            <a:off x="5097212" y="3958614"/>
            <a:ext cx="4503988" cy="2693622"/>
          </a:xfrm>
          <a:custGeom>
            <a:avLst/>
            <a:gdLst/>
            <a:ahLst/>
            <a:cxnLst/>
            <a:rect l="l" t="t" r="r" b="b"/>
            <a:pathLst>
              <a:path w="4503988" h="2693622">
                <a:moveTo>
                  <a:pt x="323234" y="0"/>
                </a:moveTo>
                <a:lnTo>
                  <a:pt x="4503988" y="0"/>
                </a:lnTo>
                <a:lnTo>
                  <a:pt x="4180753" y="2693622"/>
                </a:lnTo>
                <a:lnTo>
                  <a:pt x="0" y="2693622"/>
                </a:lnTo>
                <a:lnTo>
                  <a:pt x="32323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pponent score"/>
          <p:cNvSpPr txBox="1"/>
          <p:nvPr/>
        </p:nvSpPr>
        <p:spPr>
          <a:xfrm>
            <a:off x="5716745" y="3323420"/>
            <a:ext cx="3471719" cy="40968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9729" b="0" cap="all">
                <a:solidFill>
                  <a:srgbClr val="F5EAD5"/>
                </a:solidFill>
                <a:latin typeface="Saira Condensed Black"/>
              </a:rPr>
              <a:t>108</a:t>
            </a:r>
          </a:p>
        </p:txBody>
      </p:sp>
      <p:sp>
        <p:nvSpPr>
          <p:cNvPr id="10" name="Wildcats label"/>
          <p:cNvSpPr txBox="1"/>
          <p:nvPr/>
        </p:nvSpPr>
        <p:spPr>
          <a:xfrm>
            <a:off x="685800" y="6886552"/>
            <a:ext cx="2032437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WILDCATS</a:t>
            </a:r>
          </a:p>
        </p:txBody>
      </p:sp>
      <p:sp>
        <p:nvSpPr>
          <p:cNvPr id="11" name="Opponent label"/>
          <p:cNvSpPr txBox="1"/>
          <p:nvPr/>
        </p:nvSpPr>
        <p:spPr>
          <a:xfrm>
            <a:off x="5097212" y="6886552"/>
            <a:ext cx="2100194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BD9C6"/>
                </a:solidFill>
                <a:latin typeface="Saira"/>
              </a:rPr>
              <a:t>McCormick</a:t>
            </a:r>
          </a:p>
        </p:txBody>
      </p:sp>
      <p:sp>
        <p:nvSpPr>
          <p:cNvPr id="12" name="Note"/>
          <p:cNvSpPr txBox="1"/>
          <p:nvPr/>
        </p:nvSpPr>
        <p:spPr>
          <a:xfrm>
            <a:off x="685800" y="7710845"/>
            <a:ext cx="1719130" cy="5606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0">
                <a:solidFill>
                  <a:srgbClr val="EBD9C6"/>
                </a:solidFill>
                <a:latin typeface="Saira"/>
              </a:rPr>
              <a:t>Final, 2OT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custGeom>
            <a:avLst/>
            <a:gdLst/>
            <a:ahLst/>
            <a:cxnLst/>
            <a:rect l="l" t="t" r="r" b="b"/>
            <a:pathLst>
              <a:path w="10287000" h="1285875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solidFill>
            <a:srgbClr val="5E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Team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85800"/>
            <a:ext cx="4785200" cy="7239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85800" y="1708880"/>
            <a:ext cx="3284258" cy="5294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50" b="1" spc="357" cap="all">
                <a:solidFill>
                  <a:srgbClr val="F5EAD5"/>
                </a:solidFill>
                <a:latin typeface="Saira"/>
              </a:rPr>
              <a:t>2026 SCHEDULE</a:t>
            </a:r>
          </a:p>
        </p:txBody>
      </p:sp>
      <p:sp>
        <p:nvSpPr>
          <p:cNvPr id="5" name="Row 1 date panel"/>
          <p:cNvSpPr/>
          <p:nvPr/>
        </p:nvSpPr>
        <p:spPr>
          <a:xfrm>
            <a:off x="685800" y="2647950"/>
            <a:ext cx="1509017" cy="716042"/>
          </a:xfrm>
          <a:custGeom>
            <a:avLst/>
            <a:gdLst/>
            <a:ahLst/>
            <a:cxnLst/>
            <a:rect l="l" t="t" r="r" b="b"/>
            <a:pathLst>
              <a:path w="1509017" h="716042">
                <a:moveTo>
                  <a:pt x="85925" y="0"/>
                </a:moveTo>
                <a:lnTo>
                  <a:pt x="1509017" y="0"/>
                </a:lnTo>
                <a:lnTo>
                  <a:pt x="1423092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w 1 date"/>
          <p:cNvSpPr txBox="1"/>
          <p:nvPr/>
        </p:nvSpPr>
        <p:spPr>
          <a:xfrm>
            <a:off x="850490" y="2479097"/>
            <a:ext cx="1303023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5E1A1D"/>
                </a:solidFill>
                <a:latin typeface="Saira Condensed Black"/>
              </a:rPr>
              <a:t>8/22</a:t>
            </a:r>
          </a:p>
        </p:txBody>
      </p:sp>
      <p:sp>
        <p:nvSpPr>
          <p:cNvPr id="7" name="Row 1 opponent"/>
          <p:cNvSpPr txBox="1"/>
          <p:nvPr/>
        </p:nvSpPr>
        <p:spPr>
          <a:xfrm>
            <a:off x="2615915" y="2704600"/>
            <a:ext cx="2447300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vs. Abbeville</a:t>
            </a:r>
          </a:p>
        </p:txBody>
      </p:sp>
      <p:sp>
        <p:nvSpPr>
          <p:cNvPr id="8" name="Row 1 time"/>
          <p:cNvSpPr txBox="1"/>
          <p:nvPr/>
        </p:nvSpPr>
        <p:spPr>
          <a:xfrm>
            <a:off x="8718691" y="2719668"/>
            <a:ext cx="882509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850" b="1">
                <a:solidFill>
                  <a:srgbClr val="F5EAD5"/>
                </a:solidFill>
                <a:latin typeface="Saira"/>
              </a:rPr>
              <a:t>7:30</a:t>
            </a:r>
          </a:p>
        </p:txBody>
      </p:sp>
      <p:sp>
        <p:nvSpPr>
          <p:cNvPr id="9" name="Row 2 date panel"/>
          <p:cNvSpPr/>
          <p:nvPr/>
        </p:nvSpPr>
        <p:spPr>
          <a:xfrm>
            <a:off x="685800" y="3802856"/>
            <a:ext cx="1521672" cy="716042"/>
          </a:xfrm>
          <a:custGeom>
            <a:avLst/>
            <a:gdLst/>
            <a:ahLst/>
            <a:cxnLst/>
            <a:rect l="l" t="t" r="r" b="b"/>
            <a:pathLst>
              <a:path w="1521672" h="716042">
                <a:moveTo>
                  <a:pt x="85925" y="0"/>
                </a:moveTo>
                <a:lnTo>
                  <a:pt x="1521672" y="0"/>
                </a:lnTo>
                <a:lnTo>
                  <a:pt x="1435747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w 2 date"/>
          <p:cNvSpPr txBox="1"/>
          <p:nvPr/>
        </p:nvSpPr>
        <p:spPr>
          <a:xfrm>
            <a:off x="850490" y="3634004"/>
            <a:ext cx="1316185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5E1A1D"/>
                </a:solidFill>
                <a:latin typeface="Saira Condensed Black"/>
              </a:rPr>
              <a:t>8/29</a:t>
            </a:r>
          </a:p>
        </p:txBody>
      </p:sp>
      <p:sp>
        <p:nvSpPr>
          <p:cNvPr id="11" name="Row 2 opponent"/>
          <p:cNvSpPr txBox="1"/>
          <p:nvPr/>
        </p:nvSpPr>
        <p:spPr>
          <a:xfrm>
            <a:off x="2615915" y="3859506"/>
            <a:ext cx="6111728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at Westwood Christian Academy</a:t>
            </a:r>
          </a:p>
        </p:txBody>
      </p:sp>
      <p:sp>
        <p:nvSpPr>
          <p:cNvPr id="12" name="Row 2 time"/>
          <p:cNvSpPr txBox="1"/>
          <p:nvPr/>
        </p:nvSpPr>
        <p:spPr>
          <a:xfrm>
            <a:off x="8697988" y="3874575"/>
            <a:ext cx="903212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850" b="1">
                <a:solidFill>
                  <a:srgbClr val="F5EAD5"/>
                </a:solidFill>
                <a:latin typeface="Saira"/>
              </a:rPr>
              <a:t>7:00</a:t>
            </a:r>
          </a:p>
        </p:txBody>
      </p:sp>
      <p:sp>
        <p:nvSpPr>
          <p:cNvPr id="13" name="Row 3 date panel"/>
          <p:cNvSpPr/>
          <p:nvPr/>
        </p:nvSpPr>
        <p:spPr>
          <a:xfrm>
            <a:off x="685800" y="4957762"/>
            <a:ext cx="1195957" cy="716042"/>
          </a:xfrm>
          <a:custGeom>
            <a:avLst/>
            <a:gdLst/>
            <a:ahLst/>
            <a:cxnLst/>
            <a:rect l="l" t="t" r="r" b="b"/>
            <a:pathLst>
              <a:path w="1195957" h="716042">
                <a:moveTo>
                  <a:pt x="85925" y="0"/>
                </a:moveTo>
                <a:lnTo>
                  <a:pt x="1195957" y="0"/>
                </a:lnTo>
                <a:lnTo>
                  <a:pt x="1110031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3 date"/>
          <p:cNvSpPr txBox="1"/>
          <p:nvPr/>
        </p:nvSpPr>
        <p:spPr>
          <a:xfrm>
            <a:off x="850490" y="4788910"/>
            <a:ext cx="977440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5E1A1D"/>
                </a:solidFill>
                <a:latin typeface="Saira Condensed Black"/>
              </a:rPr>
              <a:t>9/5</a:t>
            </a:r>
          </a:p>
        </p:txBody>
      </p:sp>
      <p:sp>
        <p:nvSpPr>
          <p:cNvPr id="15" name="Row 3 opponent"/>
          <p:cNvSpPr txBox="1"/>
          <p:nvPr/>
        </p:nvSpPr>
        <p:spPr>
          <a:xfrm>
            <a:off x="2615915" y="5014412"/>
            <a:ext cx="1982907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vs. Saluda</a:t>
            </a:r>
          </a:p>
        </p:txBody>
      </p:sp>
      <p:sp>
        <p:nvSpPr>
          <p:cNvPr id="16" name="Row 3 time"/>
          <p:cNvSpPr txBox="1"/>
          <p:nvPr/>
        </p:nvSpPr>
        <p:spPr>
          <a:xfrm>
            <a:off x="8718691" y="5029481"/>
            <a:ext cx="882509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850" b="1">
                <a:solidFill>
                  <a:srgbClr val="F5EAD5"/>
                </a:solidFill>
                <a:latin typeface="Saira"/>
              </a:rPr>
              <a:t>7:30</a:t>
            </a:r>
          </a:p>
        </p:txBody>
      </p:sp>
      <p:sp>
        <p:nvSpPr>
          <p:cNvPr id="17" name="Row 4 date panel"/>
          <p:cNvSpPr/>
          <p:nvPr/>
        </p:nvSpPr>
        <p:spPr>
          <a:xfrm>
            <a:off x="685800" y="6112669"/>
            <a:ext cx="1409770" cy="716042"/>
          </a:xfrm>
          <a:custGeom>
            <a:avLst/>
            <a:gdLst/>
            <a:ahLst/>
            <a:cxnLst/>
            <a:rect l="l" t="t" r="r" b="b"/>
            <a:pathLst>
              <a:path w="1409770" h="716042">
                <a:moveTo>
                  <a:pt x="85925" y="0"/>
                </a:moveTo>
                <a:lnTo>
                  <a:pt x="1409770" y="0"/>
                </a:lnTo>
                <a:lnTo>
                  <a:pt x="1323845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4 date"/>
          <p:cNvSpPr txBox="1"/>
          <p:nvPr/>
        </p:nvSpPr>
        <p:spPr>
          <a:xfrm>
            <a:off x="850490" y="5943816"/>
            <a:ext cx="1199806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5E1A1D"/>
                </a:solidFill>
                <a:latin typeface="Saira Condensed Black"/>
              </a:rPr>
              <a:t>9/12</a:t>
            </a:r>
          </a:p>
        </p:txBody>
      </p:sp>
      <p:sp>
        <p:nvSpPr>
          <p:cNvPr id="19" name="Row 4 opponent"/>
          <p:cNvSpPr txBox="1"/>
          <p:nvPr/>
        </p:nvSpPr>
        <p:spPr>
          <a:xfrm>
            <a:off x="2615915" y="6169319"/>
            <a:ext cx="2584003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at McCormick</a:t>
            </a:r>
          </a:p>
        </p:txBody>
      </p:sp>
      <p:sp>
        <p:nvSpPr>
          <p:cNvPr id="20" name="Row 4 time"/>
          <p:cNvSpPr txBox="1"/>
          <p:nvPr/>
        </p:nvSpPr>
        <p:spPr>
          <a:xfrm>
            <a:off x="8718691" y="6184387"/>
            <a:ext cx="882509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850" b="1">
                <a:solidFill>
                  <a:srgbClr val="F5EAD5"/>
                </a:solidFill>
                <a:latin typeface="Saira"/>
              </a:rPr>
              <a:t>7:30</a:t>
            </a:r>
          </a:p>
        </p:txBody>
      </p:sp>
      <p:sp>
        <p:nvSpPr>
          <p:cNvPr id="21" name="Row 5 date panel"/>
          <p:cNvSpPr/>
          <p:nvPr/>
        </p:nvSpPr>
        <p:spPr>
          <a:xfrm>
            <a:off x="685800" y="7267575"/>
            <a:ext cx="1422426" cy="716042"/>
          </a:xfrm>
          <a:custGeom>
            <a:avLst/>
            <a:gdLst/>
            <a:ahLst/>
            <a:cxnLst/>
            <a:rect l="l" t="t" r="r" b="b"/>
            <a:pathLst>
              <a:path w="1422426" h="716042">
                <a:moveTo>
                  <a:pt x="85925" y="0"/>
                </a:moveTo>
                <a:lnTo>
                  <a:pt x="1422426" y="0"/>
                </a:lnTo>
                <a:lnTo>
                  <a:pt x="1336501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5 date"/>
          <p:cNvSpPr txBox="1"/>
          <p:nvPr/>
        </p:nvSpPr>
        <p:spPr>
          <a:xfrm>
            <a:off x="850490" y="7098722"/>
            <a:ext cx="1212968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5E1A1D"/>
                </a:solidFill>
                <a:latin typeface="Saira Condensed Black"/>
              </a:rPr>
              <a:t>9/19</a:t>
            </a:r>
          </a:p>
        </p:txBody>
      </p:sp>
      <p:sp>
        <p:nvSpPr>
          <p:cNvPr id="23" name="Row 5 opponent"/>
          <p:cNvSpPr txBox="1"/>
          <p:nvPr/>
        </p:nvSpPr>
        <p:spPr>
          <a:xfrm>
            <a:off x="2615915" y="7324225"/>
            <a:ext cx="5921929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vs. Greenwood Christian School</a:t>
            </a:r>
          </a:p>
        </p:txBody>
      </p:sp>
      <p:sp>
        <p:nvSpPr>
          <p:cNvPr id="24" name="Row 5 time"/>
          <p:cNvSpPr txBox="1"/>
          <p:nvPr/>
        </p:nvSpPr>
        <p:spPr>
          <a:xfrm>
            <a:off x="8718691" y="7339293"/>
            <a:ext cx="882509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850" b="1">
                <a:solidFill>
                  <a:srgbClr val="F5EAD5"/>
                </a:solidFill>
                <a:latin typeface="Saira"/>
              </a:rPr>
              <a:t>7:30</a:t>
            </a:r>
          </a:p>
        </p:txBody>
      </p:sp>
      <p:sp>
        <p:nvSpPr>
          <p:cNvPr id="25" name="Row 6 date panel"/>
          <p:cNvSpPr/>
          <p:nvPr/>
        </p:nvSpPr>
        <p:spPr>
          <a:xfrm>
            <a:off x="685800" y="8422481"/>
            <a:ext cx="1513013" cy="716042"/>
          </a:xfrm>
          <a:custGeom>
            <a:avLst/>
            <a:gdLst/>
            <a:ahLst/>
            <a:cxnLst/>
            <a:rect l="l" t="t" r="r" b="b"/>
            <a:pathLst>
              <a:path w="1513013" h="716042">
                <a:moveTo>
                  <a:pt x="85925" y="0"/>
                </a:moveTo>
                <a:lnTo>
                  <a:pt x="1513013" y="0"/>
                </a:lnTo>
                <a:lnTo>
                  <a:pt x="1427088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320B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6 date"/>
          <p:cNvSpPr txBox="1"/>
          <p:nvPr/>
        </p:nvSpPr>
        <p:spPr>
          <a:xfrm>
            <a:off x="850490" y="8253629"/>
            <a:ext cx="1307179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EBD9C6"/>
                </a:solidFill>
                <a:latin typeface="Saira Condensed Black"/>
              </a:rPr>
              <a:t>9/26</a:t>
            </a:r>
          </a:p>
        </p:txBody>
      </p:sp>
      <p:sp>
        <p:nvSpPr>
          <p:cNvPr id="27" name="Row 6 opponent"/>
          <p:cNvSpPr txBox="1"/>
          <p:nvPr/>
        </p:nvSpPr>
        <p:spPr>
          <a:xfrm>
            <a:off x="2615915" y="8479131"/>
            <a:ext cx="1975775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BD9C6"/>
                </a:solidFill>
                <a:latin typeface="Saira"/>
              </a:rPr>
              <a:t>Open date</a:t>
            </a:r>
          </a:p>
        </p:txBody>
      </p:sp>
      <p:sp>
        <p:nvSpPr>
          <p:cNvPr id="28" name="Row 7 date panel"/>
          <p:cNvSpPr/>
          <p:nvPr/>
        </p:nvSpPr>
        <p:spPr>
          <a:xfrm>
            <a:off x="685800" y="9577388"/>
            <a:ext cx="1403109" cy="716042"/>
          </a:xfrm>
          <a:custGeom>
            <a:avLst/>
            <a:gdLst/>
            <a:ahLst/>
            <a:cxnLst/>
            <a:rect l="l" t="t" r="r" b="b"/>
            <a:pathLst>
              <a:path w="1403109" h="716042">
                <a:moveTo>
                  <a:pt x="85925" y="0"/>
                </a:moveTo>
                <a:lnTo>
                  <a:pt x="1403109" y="0"/>
                </a:lnTo>
                <a:lnTo>
                  <a:pt x="1317184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7 date"/>
          <p:cNvSpPr txBox="1"/>
          <p:nvPr/>
        </p:nvSpPr>
        <p:spPr>
          <a:xfrm>
            <a:off x="850490" y="9408535"/>
            <a:ext cx="1192879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5E1A1D"/>
                </a:solidFill>
                <a:latin typeface="Saira Condensed Black"/>
              </a:rPr>
              <a:t>10/3</a:t>
            </a:r>
          </a:p>
        </p:txBody>
      </p:sp>
      <p:sp>
        <p:nvSpPr>
          <p:cNvPr id="30" name="Row 7 opponent"/>
          <p:cNvSpPr txBox="1"/>
          <p:nvPr/>
        </p:nvSpPr>
        <p:spPr>
          <a:xfrm>
            <a:off x="2615915" y="9634037"/>
            <a:ext cx="4443161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vs. Dixie (Homecoming)</a:t>
            </a:r>
          </a:p>
        </p:txBody>
      </p:sp>
      <p:sp>
        <p:nvSpPr>
          <p:cNvPr id="31" name="Row 7 time"/>
          <p:cNvSpPr txBox="1"/>
          <p:nvPr/>
        </p:nvSpPr>
        <p:spPr>
          <a:xfrm>
            <a:off x="8718691" y="9649106"/>
            <a:ext cx="882509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850" b="1">
                <a:solidFill>
                  <a:srgbClr val="F5EAD5"/>
                </a:solidFill>
                <a:latin typeface="Saira"/>
              </a:rPr>
              <a:t>7:30</a:t>
            </a:r>
          </a:p>
        </p:txBody>
      </p:sp>
      <p:sp>
        <p:nvSpPr>
          <p:cNvPr id="32" name="Row 8 date panel"/>
          <p:cNvSpPr/>
          <p:nvPr/>
        </p:nvSpPr>
        <p:spPr>
          <a:xfrm>
            <a:off x="685800" y="10732294"/>
            <a:ext cx="1642234" cy="716042"/>
          </a:xfrm>
          <a:custGeom>
            <a:avLst/>
            <a:gdLst/>
            <a:ahLst/>
            <a:cxnLst/>
            <a:rect l="l" t="t" r="r" b="b"/>
            <a:pathLst>
              <a:path w="1642234" h="716042">
                <a:moveTo>
                  <a:pt x="85925" y="0"/>
                </a:moveTo>
                <a:lnTo>
                  <a:pt x="1642234" y="0"/>
                </a:lnTo>
                <a:lnTo>
                  <a:pt x="1556309" y="716042"/>
                </a:lnTo>
                <a:lnTo>
                  <a:pt x="0" y="716042"/>
                </a:lnTo>
                <a:lnTo>
                  <a:pt x="85925" y="0"/>
                </a:lnTo>
                <a:close/>
              </a:path>
            </a:pathLst>
          </a:custGeom>
          <a:solidFill>
            <a:srgbClr val="F5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8 date"/>
          <p:cNvSpPr txBox="1"/>
          <p:nvPr/>
        </p:nvSpPr>
        <p:spPr>
          <a:xfrm>
            <a:off x="850490" y="10563441"/>
            <a:ext cx="1441569" cy="1089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244" b="0" cap="all">
                <a:solidFill>
                  <a:srgbClr val="5E1A1D"/>
                </a:solidFill>
                <a:latin typeface="Saira Condensed Black"/>
              </a:rPr>
              <a:t>10/10</a:t>
            </a:r>
          </a:p>
        </p:txBody>
      </p:sp>
      <p:sp>
        <p:nvSpPr>
          <p:cNvPr id="34" name="Row 8 opponent"/>
          <p:cNvSpPr txBox="1"/>
          <p:nvPr/>
        </p:nvSpPr>
        <p:spPr>
          <a:xfrm>
            <a:off x="2615915" y="10788944"/>
            <a:ext cx="5937778" cy="6229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5EAD5"/>
                </a:solidFill>
                <a:latin typeface="Saira"/>
              </a:rPr>
              <a:t>at Region tournament, site TBA</a:t>
            </a:r>
          </a:p>
        </p:txBody>
      </p:sp>
      <p:sp>
        <p:nvSpPr>
          <p:cNvPr id="35" name="Row 8 time"/>
          <p:cNvSpPr txBox="1"/>
          <p:nvPr/>
        </p:nvSpPr>
        <p:spPr>
          <a:xfrm>
            <a:off x="8792095" y="10804012"/>
            <a:ext cx="809105" cy="5917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2850" b="1">
                <a:solidFill>
                  <a:srgbClr val="F5EAD5"/>
                </a:solidFill>
                <a:latin typeface="Saira"/>
              </a:rPr>
              <a:t>TBA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